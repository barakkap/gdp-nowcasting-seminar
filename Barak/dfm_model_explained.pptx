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2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48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300" b="1" dirty="0">
                <a:solidFill>
                  <a:srgbClr val="0B2C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DFM Forecasts GDP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1371600" y="1709928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26071"/>
                </a:solidFill>
              </a:rPr>
              <a:t>From transformed monthly data to a GDP nowcast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832104" y="2862072"/>
            <a:ext cx="21762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Final transformed panel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50392" y="3218688"/>
            <a:ext cx="21396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X: months × indicators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227832" y="3291840"/>
            <a:ext cx="27432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3611880" y="27432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3758184" y="2862072"/>
            <a:ext cx="21762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Estimate DFM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3776472" y="3218688"/>
            <a:ext cx="21396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factors, loadings, dynamics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153912" y="3291840"/>
            <a:ext cx="27432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6537960" y="27432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6684264" y="2862072"/>
            <a:ext cx="21762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Forecast factors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702552" y="3218688"/>
            <a:ext cx="21396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f_{t+1}, f_{t+2}, …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9079992" y="3291840"/>
            <a:ext cx="27432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9464040" y="27432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9610344" y="2862072"/>
            <a:ext cx="21762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Map to GDP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9628632" y="3218688"/>
            <a:ext cx="21396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GDP forecast = c_GDP · f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1051560" y="4709160"/>
            <a:ext cx="10104120" cy="804672"/>
          </a:xfrm>
          <a:prstGeom prst="roundRect">
            <a:avLst>
              <a:gd name="adj" fmla="val 6818"/>
            </a:avLst>
          </a:prstGeom>
          <a:solidFill>
            <a:srgbClr val="EEF6FF"/>
          </a:solidFill>
          <a:ln w="12700">
            <a:solidFill>
              <a:srgbClr val="C282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1161288" y="4809744"/>
            <a:ext cx="98846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2C66"/>
                </a:solidFill>
              </a:rPr>
              <a:t>Key message: the DFM does not forecast GDP directly from one variable. It first summarizes the economy into latent factors, forecasts those factors, and then translates them into GDP.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6272784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F6FA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685800" y="638251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071"/>
                </a:solidFill>
              </a:rPr>
              <a:t>Deck focus: what the model learns, what changes between runs, and how a GDP forecast is produced.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C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Input to the model: the final monthly panel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071"/>
                </a:solidFill>
              </a:rPr>
              <a:t>After transformations, seasonality adjustment, and release lags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3474720" cy="4343400"/>
          </a:xfrm>
          <a:prstGeom prst="roundRect">
            <a:avLst>
              <a:gd name="adj" fmla="val 2105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740664" y="1536192"/>
            <a:ext cx="31821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What the model receives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58952" y="1892808"/>
            <a:ext cx="3145536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• One row per month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• One column per economic indicator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• GDP appears only on quarterly target months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• Missing values are allowed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• Values are already transformed, e.g. log-diff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1051560" cy="46482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453128" y="1453896"/>
            <a:ext cx="101498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Date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5486400" y="1417320"/>
            <a:ext cx="960120" cy="46482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504688" y="1453896"/>
            <a:ext cx="92354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GDP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446520" y="1417320"/>
            <a:ext cx="960120" cy="46482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6464808" y="1453896"/>
            <a:ext cx="92354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CPI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406640" y="1417320"/>
            <a:ext cx="1143000" cy="46482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7424928" y="1453896"/>
            <a:ext cx="110642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Dollar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8549640" y="1417320"/>
            <a:ext cx="1097280" cy="46482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8567928" y="1453896"/>
            <a:ext cx="106070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Unemp.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9646920" y="1417320"/>
            <a:ext cx="1143000" cy="46482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9665208" y="1453896"/>
            <a:ext cx="110642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Interest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434840" y="1882140"/>
            <a:ext cx="105156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4453128" y="1918716"/>
            <a:ext cx="101498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2026-01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0" y="1882140"/>
            <a:ext cx="96012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5504688" y="1918716"/>
            <a:ext cx="92354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0.012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46520" y="1882140"/>
            <a:ext cx="96012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6464808" y="1918716"/>
            <a:ext cx="92354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0.003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06640" y="1882140"/>
            <a:ext cx="114300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Text 27"/>
          <p:cNvSpPr/>
          <p:nvPr/>
        </p:nvSpPr>
        <p:spPr>
          <a:xfrm>
            <a:off x="7424928" y="1918716"/>
            <a:ext cx="110642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0.018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549640" y="1882140"/>
            <a:ext cx="109728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8567928" y="1918716"/>
            <a:ext cx="106070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-0.002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646920" y="1882140"/>
            <a:ext cx="114300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9665208" y="1918716"/>
            <a:ext cx="110642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34840" y="2346960"/>
            <a:ext cx="105156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Text 33"/>
          <p:cNvSpPr/>
          <p:nvPr/>
        </p:nvSpPr>
        <p:spPr>
          <a:xfrm>
            <a:off x="4453128" y="2383536"/>
            <a:ext cx="101498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2026-02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0" y="2346960"/>
            <a:ext cx="96012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Text 35"/>
          <p:cNvSpPr/>
          <p:nvPr/>
        </p:nvSpPr>
        <p:spPr>
          <a:xfrm>
            <a:off x="5504688" y="2383536"/>
            <a:ext cx="92354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NA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46520" y="2346960"/>
            <a:ext cx="96012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6464808" y="2383536"/>
            <a:ext cx="92354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406640" y="2346960"/>
            <a:ext cx="114300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Text 39"/>
          <p:cNvSpPr/>
          <p:nvPr/>
        </p:nvSpPr>
        <p:spPr>
          <a:xfrm>
            <a:off x="7424928" y="2383536"/>
            <a:ext cx="110642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-0.006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549640" y="2346960"/>
            <a:ext cx="109728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Text 41"/>
          <p:cNvSpPr/>
          <p:nvPr/>
        </p:nvSpPr>
        <p:spPr>
          <a:xfrm>
            <a:off x="8567928" y="2383536"/>
            <a:ext cx="106070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0.001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646920" y="2346960"/>
            <a:ext cx="114300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Text 43"/>
          <p:cNvSpPr/>
          <p:nvPr/>
        </p:nvSpPr>
        <p:spPr>
          <a:xfrm>
            <a:off x="9665208" y="2383536"/>
            <a:ext cx="110642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34840" y="2811780"/>
            <a:ext cx="105156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Text 45"/>
          <p:cNvSpPr/>
          <p:nvPr/>
        </p:nvSpPr>
        <p:spPr>
          <a:xfrm>
            <a:off x="4453128" y="2848356"/>
            <a:ext cx="101498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2026-03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0" y="2811780"/>
            <a:ext cx="96012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Text 47"/>
          <p:cNvSpPr/>
          <p:nvPr/>
        </p:nvSpPr>
        <p:spPr>
          <a:xfrm>
            <a:off x="5504688" y="2848356"/>
            <a:ext cx="92354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NA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46520" y="2811780"/>
            <a:ext cx="96012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Text 49"/>
          <p:cNvSpPr/>
          <p:nvPr/>
        </p:nvSpPr>
        <p:spPr>
          <a:xfrm>
            <a:off x="6464808" y="2848356"/>
            <a:ext cx="92354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0.004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406640" y="2811780"/>
            <a:ext cx="114300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Text 51"/>
          <p:cNvSpPr/>
          <p:nvPr/>
        </p:nvSpPr>
        <p:spPr>
          <a:xfrm>
            <a:off x="7424928" y="2848356"/>
            <a:ext cx="110642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0.011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549640" y="2811780"/>
            <a:ext cx="109728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Text 53"/>
          <p:cNvSpPr/>
          <p:nvPr/>
        </p:nvSpPr>
        <p:spPr>
          <a:xfrm>
            <a:off x="8567928" y="2848356"/>
            <a:ext cx="106070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646920" y="2811780"/>
            <a:ext cx="114300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Text 55"/>
          <p:cNvSpPr/>
          <p:nvPr/>
        </p:nvSpPr>
        <p:spPr>
          <a:xfrm>
            <a:off x="9665208" y="2848356"/>
            <a:ext cx="110642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0.000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434840" y="3276600"/>
            <a:ext cx="105156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Text 57"/>
          <p:cNvSpPr/>
          <p:nvPr/>
        </p:nvSpPr>
        <p:spPr>
          <a:xfrm>
            <a:off x="4453128" y="3313176"/>
            <a:ext cx="101498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2026-04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86400" y="3276600"/>
            <a:ext cx="96012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Text 59"/>
          <p:cNvSpPr/>
          <p:nvPr/>
        </p:nvSpPr>
        <p:spPr>
          <a:xfrm>
            <a:off x="5504688" y="3313176"/>
            <a:ext cx="92354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0.008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446520" y="3276600"/>
            <a:ext cx="96012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6464808" y="3313176"/>
            <a:ext cx="92354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0.001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406640" y="3276600"/>
            <a:ext cx="114300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5" name="Text 63"/>
          <p:cNvSpPr/>
          <p:nvPr/>
        </p:nvSpPr>
        <p:spPr>
          <a:xfrm>
            <a:off x="7424928" y="3313176"/>
            <a:ext cx="110642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-0.008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549640" y="3276600"/>
            <a:ext cx="109728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7" name="Text 65"/>
          <p:cNvSpPr/>
          <p:nvPr/>
        </p:nvSpPr>
        <p:spPr>
          <a:xfrm>
            <a:off x="8567928" y="3313176"/>
            <a:ext cx="106070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-0.003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646920" y="3276600"/>
            <a:ext cx="114300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9" name="Text 67"/>
          <p:cNvSpPr/>
          <p:nvPr/>
        </p:nvSpPr>
        <p:spPr>
          <a:xfrm>
            <a:off x="9665208" y="3313176"/>
            <a:ext cx="110642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0.000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434840" y="3741420"/>
            <a:ext cx="105156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1" name="Text 69"/>
          <p:cNvSpPr/>
          <p:nvPr/>
        </p:nvSpPr>
        <p:spPr>
          <a:xfrm>
            <a:off x="4453128" y="3777996"/>
            <a:ext cx="101498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2026-05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486400" y="3741420"/>
            <a:ext cx="96012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3" name="Text 71"/>
          <p:cNvSpPr/>
          <p:nvPr/>
        </p:nvSpPr>
        <p:spPr>
          <a:xfrm>
            <a:off x="5504688" y="3777996"/>
            <a:ext cx="92354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NA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446520" y="3741420"/>
            <a:ext cx="96012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5" name="Text 73"/>
          <p:cNvSpPr/>
          <p:nvPr/>
        </p:nvSpPr>
        <p:spPr>
          <a:xfrm>
            <a:off x="6464808" y="3777996"/>
            <a:ext cx="92354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0.003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406640" y="3741420"/>
            <a:ext cx="114300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7" name="Text 75"/>
          <p:cNvSpPr/>
          <p:nvPr/>
        </p:nvSpPr>
        <p:spPr>
          <a:xfrm>
            <a:off x="7424928" y="3777996"/>
            <a:ext cx="110642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0.005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549640" y="3741420"/>
            <a:ext cx="109728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9" name="Text 77"/>
          <p:cNvSpPr/>
          <p:nvPr/>
        </p:nvSpPr>
        <p:spPr>
          <a:xfrm>
            <a:off x="8567928" y="3777996"/>
            <a:ext cx="106070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0.001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646920" y="3741420"/>
            <a:ext cx="1143000" cy="46482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1" name="Text 79"/>
          <p:cNvSpPr/>
          <p:nvPr/>
        </p:nvSpPr>
        <p:spPr>
          <a:xfrm>
            <a:off x="9665208" y="3777996"/>
            <a:ext cx="1106424" cy="3916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2033"/>
                </a:solidFill>
              </a:rPr>
              <a:t>0.000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617720" y="4498848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3" name="Text 81"/>
          <p:cNvSpPr/>
          <p:nvPr/>
        </p:nvSpPr>
        <p:spPr>
          <a:xfrm>
            <a:off x="4690872" y="4572000"/>
            <a:ext cx="2688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C66"/>
                </a:solidFill>
              </a:rPr>
              <a:t>X has size T × 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2C66"/>
                </a:solidFill>
              </a:rPr>
              <a:t>T = months up to cutoff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2C66"/>
                </a:solidFill>
              </a:rPr>
              <a:t>N = indicators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7818120" y="4480560"/>
            <a:ext cx="3429000" cy="960120"/>
          </a:xfrm>
          <a:prstGeom prst="roundRect">
            <a:avLst>
              <a:gd name="adj" fmla="val 5714"/>
            </a:avLst>
          </a:prstGeom>
          <a:solidFill>
            <a:srgbClr val="FFF6DF"/>
          </a:solidFill>
          <a:ln w="12700">
            <a:solidFill>
              <a:srgbClr val="C282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5" name="Text 83"/>
          <p:cNvSpPr/>
          <p:nvPr/>
        </p:nvSpPr>
        <p:spPr>
          <a:xfrm>
            <a:off x="7927848" y="4581144"/>
            <a:ext cx="320954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Example: at cutoff = May 2026, the model sees all rows up to May 2026 and nothing after that.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502920" y="6272784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F6FA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7" name="Text 85"/>
          <p:cNvSpPr/>
          <p:nvPr/>
        </p:nvSpPr>
        <p:spPr>
          <a:xfrm>
            <a:off x="685800" y="638251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071"/>
                </a:solidFill>
              </a:rPr>
              <a:t>Important: the GDP forecast is on the transformed scale used in the model, usually log-diff growth, not the original nominal level.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C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Why the code runs month by month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071"/>
                </a:solidFill>
              </a:rPr>
              <a:t>The loop is mainly for pseudo real-time backtesting and forecast vintages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868680" y="21214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7614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C66"/>
                </a:solidFill>
              </a:rPr>
              <a:t>Apr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" y="31546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F5FBF"/>
                </a:solidFill>
              </a:rPr>
              <a:t>h3 forecast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182880" y="3456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071"/>
                </a:solidFill>
              </a:rPr>
              <a:t>little Q2 data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1581912" y="2295144"/>
            <a:ext cx="1911096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657600" y="2011680"/>
            <a:ext cx="566928" cy="566928"/>
          </a:xfrm>
          <a:prstGeom prst="ellipse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3657600" y="21214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90672" y="27614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C66"/>
                </a:solidFill>
              </a:rPr>
              <a:t>May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90672" y="31546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F5FBF"/>
                </a:solidFill>
              </a:rPr>
              <a:t>h2 forecast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2971800" y="3456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071"/>
                </a:solidFill>
              </a:rPr>
              <a:t>more Q2 data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4370832" y="2295144"/>
            <a:ext cx="1911096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6446520" y="2011680"/>
            <a:ext cx="566928" cy="566928"/>
          </a:xfrm>
          <a:prstGeom prst="ellipse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6446520" y="21214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79592" y="27614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C66"/>
                </a:solidFill>
              </a:rPr>
              <a:t>Jun 2026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79592" y="31546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F5FBF"/>
                </a:solidFill>
              </a:rPr>
              <a:t>h1 forecast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5760720" y="3456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071"/>
                </a:solidFill>
              </a:rPr>
              <a:t>almost full quarter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159752" y="2295144"/>
            <a:ext cx="1911096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23"/>
          <p:cNvSpPr/>
          <p:nvPr/>
        </p:nvSpPr>
        <p:spPr>
          <a:xfrm>
            <a:off x="9235440" y="2011680"/>
            <a:ext cx="566928" cy="566928"/>
          </a:xfrm>
          <a:prstGeom prst="ellipse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9235440" y="21214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68512" y="27614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C66"/>
                </a:solidFill>
              </a:rPr>
              <a:t>Jul 2026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68512" y="31546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F5FBF"/>
                </a:solidFill>
              </a:rPr>
              <a:t>h0 nowcast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8549640" y="3456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26071"/>
                </a:solidFill>
              </a:rPr>
              <a:t>target month; GDP hidden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777240" y="425196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923544" y="4370832"/>
            <a:ext cx="51023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If you only need today’s forecast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941832" y="4727448"/>
            <a:ext cx="50657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Run the model once using the latest cutoff month.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6446520" y="425196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Text 32"/>
          <p:cNvSpPr/>
          <p:nvPr/>
        </p:nvSpPr>
        <p:spPr>
          <a:xfrm>
            <a:off x="6592824" y="4370832"/>
            <a:ext cx="46908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If you want to evaluate the model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6611112" y="4727448"/>
            <a:ext cx="465429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Run the model for many historical cutoffs and compare forecasts to actual GDP.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502920" y="6272784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F6FA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Text 35"/>
          <p:cNvSpPr/>
          <p:nvPr/>
        </p:nvSpPr>
        <p:spPr>
          <a:xfrm>
            <a:off x="685800" y="638251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071"/>
                </a:solidFill>
              </a:rPr>
              <a:t>The monthly loop is not required for one current forecast; it creates historical forecasts for RMSE, MAE, h1/h2/h3 comparison, and news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C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Step A: choose r and compress X into factors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071"/>
                </a:solidFill>
              </a:rPr>
              <a:t>r is the number of latent factors kept by the model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2743200" cy="4480560"/>
          </a:xfrm>
          <a:prstGeom prst="roundRect">
            <a:avLst>
              <a:gd name="adj" fmla="val 2667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740664" y="1444752"/>
            <a:ext cx="24505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In the code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58952" y="1801368"/>
            <a:ext cx="2414016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72033"/>
                </a:solidFill>
              </a:rPr>
              <a:t>• r = 4</a:t>
            </a:r>
            <a:endParaRPr lang="en-US" sz="940" b="1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• Based on prior factor/PCA selection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• ICr / PCA diagnostics help decide how many common factors to retain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703320" y="1417320"/>
            <a:ext cx="502920" cy="4191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3721608" y="14538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X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206240" y="1417320"/>
            <a:ext cx="594360" cy="4191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4224528" y="1453896"/>
            <a:ext cx="55778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GDP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594360" cy="4191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4818888" y="1453896"/>
            <a:ext cx="55778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CPI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394960" y="1417320"/>
            <a:ext cx="685800" cy="4191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5413248" y="1453896"/>
            <a:ext cx="64922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Dollar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6080760" y="1417320"/>
            <a:ext cx="640080" cy="4191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6099048" y="1453896"/>
            <a:ext cx="60350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Unemp.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3703320" y="18364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3721608" y="18729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t1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206240" y="1836420"/>
            <a:ext cx="59436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4224528" y="1872996"/>
            <a:ext cx="55778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800600" y="1836420"/>
            <a:ext cx="59436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4818888" y="1872996"/>
            <a:ext cx="55778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394960" y="1836420"/>
            <a:ext cx="68580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5413248" y="1872996"/>
            <a:ext cx="64922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080760" y="1836420"/>
            <a:ext cx="64008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Text 27"/>
          <p:cNvSpPr/>
          <p:nvPr/>
        </p:nvSpPr>
        <p:spPr>
          <a:xfrm>
            <a:off x="6099048" y="1872996"/>
            <a:ext cx="60350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3703320" y="22555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3721608" y="22920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t2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206240" y="2255520"/>
            <a:ext cx="59436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4224528" y="2292096"/>
            <a:ext cx="55778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800600" y="2255520"/>
            <a:ext cx="59436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Text 33"/>
          <p:cNvSpPr/>
          <p:nvPr/>
        </p:nvSpPr>
        <p:spPr>
          <a:xfrm>
            <a:off x="4818888" y="2292096"/>
            <a:ext cx="55778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394960" y="2255520"/>
            <a:ext cx="68580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Text 35"/>
          <p:cNvSpPr/>
          <p:nvPr/>
        </p:nvSpPr>
        <p:spPr>
          <a:xfrm>
            <a:off x="5413248" y="2292096"/>
            <a:ext cx="64922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080760" y="2255520"/>
            <a:ext cx="64008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6099048" y="2292096"/>
            <a:ext cx="60350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3703320" y="26746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1" name="Text 39"/>
          <p:cNvSpPr/>
          <p:nvPr/>
        </p:nvSpPr>
        <p:spPr>
          <a:xfrm>
            <a:off x="3721608" y="27111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t3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4206240" y="2674620"/>
            <a:ext cx="59436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3" name="Text 41"/>
          <p:cNvSpPr/>
          <p:nvPr/>
        </p:nvSpPr>
        <p:spPr>
          <a:xfrm>
            <a:off x="4224528" y="2711196"/>
            <a:ext cx="55778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4800600" y="2674620"/>
            <a:ext cx="59436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5" name="Text 43"/>
          <p:cNvSpPr/>
          <p:nvPr/>
        </p:nvSpPr>
        <p:spPr>
          <a:xfrm>
            <a:off x="4818888" y="2711196"/>
            <a:ext cx="55778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5394960" y="2674620"/>
            <a:ext cx="68580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Text 45"/>
          <p:cNvSpPr/>
          <p:nvPr/>
        </p:nvSpPr>
        <p:spPr>
          <a:xfrm>
            <a:off x="5413248" y="2711196"/>
            <a:ext cx="64922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6080760" y="2674620"/>
            <a:ext cx="64008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9" name="Text 47"/>
          <p:cNvSpPr/>
          <p:nvPr/>
        </p:nvSpPr>
        <p:spPr>
          <a:xfrm>
            <a:off x="6099048" y="2711196"/>
            <a:ext cx="60350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3703320" y="30937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1" name="Text 49"/>
          <p:cNvSpPr/>
          <p:nvPr/>
        </p:nvSpPr>
        <p:spPr>
          <a:xfrm>
            <a:off x="3721608" y="31302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⋮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4206240" y="3093720"/>
            <a:ext cx="59436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3" name="Text 51"/>
          <p:cNvSpPr/>
          <p:nvPr/>
        </p:nvSpPr>
        <p:spPr>
          <a:xfrm>
            <a:off x="4224528" y="3130296"/>
            <a:ext cx="55778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⋮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4800600" y="3093720"/>
            <a:ext cx="59436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5" name="Text 53"/>
          <p:cNvSpPr/>
          <p:nvPr/>
        </p:nvSpPr>
        <p:spPr>
          <a:xfrm>
            <a:off x="4818888" y="3130296"/>
            <a:ext cx="55778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⋮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5394960" y="3093720"/>
            <a:ext cx="68580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7" name="Text 55"/>
          <p:cNvSpPr/>
          <p:nvPr/>
        </p:nvSpPr>
        <p:spPr>
          <a:xfrm>
            <a:off x="5413248" y="3130296"/>
            <a:ext cx="64922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⋮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6080760" y="3093720"/>
            <a:ext cx="64008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9" name="Text 57"/>
          <p:cNvSpPr/>
          <p:nvPr/>
        </p:nvSpPr>
        <p:spPr>
          <a:xfrm>
            <a:off x="6099048" y="3130296"/>
            <a:ext cx="60350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⋮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3703320" y="35128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1" name="Text 59"/>
          <p:cNvSpPr/>
          <p:nvPr/>
        </p:nvSpPr>
        <p:spPr>
          <a:xfrm>
            <a:off x="3721608" y="35493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T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4206240" y="3512820"/>
            <a:ext cx="59436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3" name="Text 61"/>
          <p:cNvSpPr/>
          <p:nvPr/>
        </p:nvSpPr>
        <p:spPr>
          <a:xfrm>
            <a:off x="4224528" y="3549396"/>
            <a:ext cx="55778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4800600" y="3512820"/>
            <a:ext cx="59436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5" name="Text 63"/>
          <p:cNvSpPr/>
          <p:nvPr/>
        </p:nvSpPr>
        <p:spPr>
          <a:xfrm>
            <a:off x="4818888" y="3549396"/>
            <a:ext cx="55778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5394960" y="3512820"/>
            <a:ext cx="68580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7" name="Text 65"/>
          <p:cNvSpPr/>
          <p:nvPr/>
        </p:nvSpPr>
        <p:spPr>
          <a:xfrm>
            <a:off x="5413248" y="3549396"/>
            <a:ext cx="64922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6080760" y="3512820"/>
            <a:ext cx="64008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9" name="Text 67"/>
          <p:cNvSpPr/>
          <p:nvPr/>
        </p:nvSpPr>
        <p:spPr>
          <a:xfrm>
            <a:off x="6099048" y="3549396"/>
            <a:ext cx="60350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x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3703320" y="40507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C66"/>
                </a:solidFill>
              </a:rPr>
              <a:t>X  (T × N)</a:t>
            </a:r>
            <a:endParaRPr lang="en-US" sz="1220" dirty="0"/>
          </a:p>
        </p:txBody>
      </p:sp>
      <p:sp>
        <p:nvSpPr>
          <p:cNvPr id="71" name="Shape 69"/>
          <p:cNvSpPr/>
          <p:nvPr/>
        </p:nvSpPr>
        <p:spPr>
          <a:xfrm>
            <a:off x="6748272" y="2487168"/>
            <a:ext cx="612648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72" name="Shape 70"/>
          <p:cNvSpPr/>
          <p:nvPr/>
        </p:nvSpPr>
        <p:spPr>
          <a:xfrm>
            <a:off x="7543800" y="1417320"/>
            <a:ext cx="411480" cy="4191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3" name="Text 71"/>
          <p:cNvSpPr/>
          <p:nvPr/>
        </p:nvSpPr>
        <p:spPr>
          <a:xfrm>
            <a:off x="7562088" y="1453896"/>
            <a:ext cx="37490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F</a:t>
            </a:r>
            <a:endParaRPr lang="en-US" sz="860" dirty="0"/>
          </a:p>
        </p:txBody>
      </p:sp>
      <p:sp>
        <p:nvSpPr>
          <p:cNvPr id="74" name="Shape 72"/>
          <p:cNvSpPr/>
          <p:nvPr/>
        </p:nvSpPr>
        <p:spPr>
          <a:xfrm>
            <a:off x="7955280" y="1417320"/>
            <a:ext cx="502920" cy="4191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5" name="Text 73"/>
          <p:cNvSpPr/>
          <p:nvPr/>
        </p:nvSpPr>
        <p:spPr>
          <a:xfrm>
            <a:off x="7973568" y="14538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F1</a:t>
            </a:r>
            <a:endParaRPr lang="en-US" sz="860" dirty="0"/>
          </a:p>
        </p:txBody>
      </p:sp>
      <p:sp>
        <p:nvSpPr>
          <p:cNvPr id="76" name="Shape 74"/>
          <p:cNvSpPr/>
          <p:nvPr/>
        </p:nvSpPr>
        <p:spPr>
          <a:xfrm>
            <a:off x="8458200" y="1417320"/>
            <a:ext cx="502920" cy="4191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7" name="Text 75"/>
          <p:cNvSpPr/>
          <p:nvPr/>
        </p:nvSpPr>
        <p:spPr>
          <a:xfrm>
            <a:off x="8476488" y="14538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F2</a:t>
            </a:r>
            <a:endParaRPr lang="en-US" sz="860" dirty="0"/>
          </a:p>
        </p:txBody>
      </p:sp>
      <p:sp>
        <p:nvSpPr>
          <p:cNvPr id="78" name="Shape 76"/>
          <p:cNvSpPr/>
          <p:nvPr/>
        </p:nvSpPr>
        <p:spPr>
          <a:xfrm>
            <a:off x="8961120" y="1417320"/>
            <a:ext cx="502920" cy="4191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9" name="Text 77"/>
          <p:cNvSpPr/>
          <p:nvPr/>
        </p:nvSpPr>
        <p:spPr>
          <a:xfrm>
            <a:off x="8979408" y="14538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F3</a:t>
            </a:r>
            <a:endParaRPr lang="en-US" sz="860" dirty="0"/>
          </a:p>
        </p:txBody>
      </p:sp>
      <p:sp>
        <p:nvSpPr>
          <p:cNvPr id="80" name="Shape 78"/>
          <p:cNvSpPr/>
          <p:nvPr/>
        </p:nvSpPr>
        <p:spPr>
          <a:xfrm>
            <a:off x="9464040" y="1417320"/>
            <a:ext cx="502920" cy="4191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1" name="Text 79"/>
          <p:cNvSpPr/>
          <p:nvPr/>
        </p:nvSpPr>
        <p:spPr>
          <a:xfrm>
            <a:off x="9482328" y="14538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F4</a:t>
            </a:r>
            <a:endParaRPr lang="en-US" sz="860" dirty="0"/>
          </a:p>
        </p:txBody>
      </p:sp>
      <p:sp>
        <p:nvSpPr>
          <p:cNvPr id="82" name="Shape 80"/>
          <p:cNvSpPr/>
          <p:nvPr/>
        </p:nvSpPr>
        <p:spPr>
          <a:xfrm>
            <a:off x="7543800" y="1836420"/>
            <a:ext cx="41148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3" name="Text 81"/>
          <p:cNvSpPr/>
          <p:nvPr/>
        </p:nvSpPr>
        <p:spPr>
          <a:xfrm>
            <a:off x="7562088" y="1872996"/>
            <a:ext cx="37490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t1</a:t>
            </a:r>
            <a:endParaRPr lang="en-US" sz="820" dirty="0"/>
          </a:p>
        </p:txBody>
      </p:sp>
      <p:sp>
        <p:nvSpPr>
          <p:cNvPr id="84" name="Shape 82"/>
          <p:cNvSpPr/>
          <p:nvPr/>
        </p:nvSpPr>
        <p:spPr>
          <a:xfrm>
            <a:off x="7955280" y="18364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5" name="Text 83"/>
          <p:cNvSpPr/>
          <p:nvPr/>
        </p:nvSpPr>
        <p:spPr>
          <a:xfrm>
            <a:off x="7973568" y="18729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86" name="Shape 84"/>
          <p:cNvSpPr/>
          <p:nvPr/>
        </p:nvSpPr>
        <p:spPr>
          <a:xfrm>
            <a:off x="8458200" y="18364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7" name="Text 85"/>
          <p:cNvSpPr/>
          <p:nvPr/>
        </p:nvSpPr>
        <p:spPr>
          <a:xfrm>
            <a:off x="8476488" y="18729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88" name="Shape 86"/>
          <p:cNvSpPr/>
          <p:nvPr/>
        </p:nvSpPr>
        <p:spPr>
          <a:xfrm>
            <a:off x="8961120" y="18364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9" name="Text 87"/>
          <p:cNvSpPr/>
          <p:nvPr/>
        </p:nvSpPr>
        <p:spPr>
          <a:xfrm>
            <a:off x="8979408" y="18729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90" name="Shape 88"/>
          <p:cNvSpPr/>
          <p:nvPr/>
        </p:nvSpPr>
        <p:spPr>
          <a:xfrm>
            <a:off x="9464040" y="18364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1" name="Text 89"/>
          <p:cNvSpPr/>
          <p:nvPr/>
        </p:nvSpPr>
        <p:spPr>
          <a:xfrm>
            <a:off x="9482328" y="18729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92" name="Shape 90"/>
          <p:cNvSpPr/>
          <p:nvPr/>
        </p:nvSpPr>
        <p:spPr>
          <a:xfrm>
            <a:off x="7543800" y="2255520"/>
            <a:ext cx="41148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3" name="Text 91"/>
          <p:cNvSpPr/>
          <p:nvPr/>
        </p:nvSpPr>
        <p:spPr>
          <a:xfrm>
            <a:off x="7562088" y="2292096"/>
            <a:ext cx="37490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t2</a:t>
            </a:r>
            <a:endParaRPr lang="en-US" sz="820" dirty="0"/>
          </a:p>
        </p:txBody>
      </p:sp>
      <p:sp>
        <p:nvSpPr>
          <p:cNvPr id="94" name="Shape 92"/>
          <p:cNvSpPr/>
          <p:nvPr/>
        </p:nvSpPr>
        <p:spPr>
          <a:xfrm>
            <a:off x="7955280" y="22555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5" name="Text 93"/>
          <p:cNvSpPr/>
          <p:nvPr/>
        </p:nvSpPr>
        <p:spPr>
          <a:xfrm>
            <a:off x="7973568" y="22920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96" name="Shape 94"/>
          <p:cNvSpPr/>
          <p:nvPr/>
        </p:nvSpPr>
        <p:spPr>
          <a:xfrm>
            <a:off x="8458200" y="22555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7" name="Text 95"/>
          <p:cNvSpPr/>
          <p:nvPr/>
        </p:nvSpPr>
        <p:spPr>
          <a:xfrm>
            <a:off x="8476488" y="22920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98" name="Shape 96"/>
          <p:cNvSpPr/>
          <p:nvPr/>
        </p:nvSpPr>
        <p:spPr>
          <a:xfrm>
            <a:off x="8961120" y="22555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9" name="Text 97"/>
          <p:cNvSpPr/>
          <p:nvPr/>
        </p:nvSpPr>
        <p:spPr>
          <a:xfrm>
            <a:off x="8979408" y="22920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100" name="Shape 98"/>
          <p:cNvSpPr/>
          <p:nvPr/>
        </p:nvSpPr>
        <p:spPr>
          <a:xfrm>
            <a:off x="9464040" y="22555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1" name="Text 99"/>
          <p:cNvSpPr/>
          <p:nvPr/>
        </p:nvSpPr>
        <p:spPr>
          <a:xfrm>
            <a:off x="9482328" y="22920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102" name="Shape 100"/>
          <p:cNvSpPr/>
          <p:nvPr/>
        </p:nvSpPr>
        <p:spPr>
          <a:xfrm>
            <a:off x="7543800" y="2674620"/>
            <a:ext cx="41148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3" name="Text 101"/>
          <p:cNvSpPr/>
          <p:nvPr/>
        </p:nvSpPr>
        <p:spPr>
          <a:xfrm>
            <a:off x="7562088" y="2711196"/>
            <a:ext cx="37490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t3</a:t>
            </a:r>
            <a:endParaRPr lang="en-US" sz="820" dirty="0"/>
          </a:p>
        </p:txBody>
      </p:sp>
      <p:sp>
        <p:nvSpPr>
          <p:cNvPr id="104" name="Shape 102"/>
          <p:cNvSpPr/>
          <p:nvPr/>
        </p:nvSpPr>
        <p:spPr>
          <a:xfrm>
            <a:off x="7955280" y="26746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5" name="Text 103"/>
          <p:cNvSpPr/>
          <p:nvPr/>
        </p:nvSpPr>
        <p:spPr>
          <a:xfrm>
            <a:off x="7973568" y="27111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106" name="Shape 104"/>
          <p:cNvSpPr/>
          <p:nvPr/>
        </p:nvSpPr>
        <p:spPr>
          <a:xfrm>
            <a:off x="8458200" y="26746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7" name="Text 105"/>
          <p:cNvSpPr/>
          <p:nvPr/>
        </p:nvSpPr>
        <p:spPr>
          <a:xfrm>
            <a:off x="8476488" y="27111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108" name="Shape 106"/>
          <p:cNvSpPr/>
          <p:nvPr/>
        </p:nvSpPr>
        <p:spPr>
          <a:xfrm>
            <a:off x="8961120" y="26746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9" name="Text 107"/>
          <p:cNvSpPr/>
          <p:nvPr/>
        </p:nvSpPr>
        <p:spPr>
          <a:xfrm>
            <a:off x="8979408" y="27111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110" name="Shape 108"/>
          <p:cNvSpPr/>
          <p:nvPr/>
        </p:nvSpPr>
        <p:spPr>
          <a:xfrm>
            <a:off x="9464040" y="26746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1" name="Text 109"/>
          <p:cNvSpPr/>
          <p:nvPr/>
        </p:nvSpPr>
        <p:spPr>
          <a:xfrm>
            <a:off x="9482328" y="27111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112" name="Shape 110"/>
          <p:cNvSpPr/>
          <p:nvPr/>
        </p:nvSpPr>
        <p:spPr>
          <a:xfrm>
            <a:off x="7543800" y="3093720"/>
            <a:ext cx="41148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3" name="Text 111"/>
          <p:cNvSpPr/>
          <p:nvPr/>
        </p:nvSpPr>
        <p:spPr>
          <a:xfrm>
            <a:off x="7562088" y="3130296"/>
            <a:ext cx="37490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⋮</a:t>
            </a:r>
            <a:endParaRPr lang="en-US" sz="820" dirty="0"/>
          </a:p>
        </p:txBody>
      </p:sp>
      <p:sp>
        <p:nvSpPr>
          <p:cNvPr id="114" name="Shape 112"/>
          <p:cNvSpPr/>
          <p:nvPr/>
        </p:nvSpPr>
        <p:spPr>
          <a:xfrm>
            <a:off x="7955280" y="30937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5" name="Text 113"/>
          <p:cNvSpPr/>
          <p:nvPr/>
        </p:nvSpPr>
        <p:spPr>
          <a:xfrm>
            <a:off x="7973568" y="31302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⋮</a:t>
            </a:r>
            <a:endParaRPr lang="en-US" sz="820" dirty="0"/>
          </a:p>
        </p:txBody>
      </p:sp>
      <p:sp>
        <p:nvSpPr>
          <p:cNvPr id="116" name="Shape 114"/>
          <p:cNvSpPr/>
          <p:nvPr/>
        </p:nvSpPr>
        <p:spPr>
          <a:xfrm>
            <a:off x="8458200" y="30937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7" name="Text 115"/>
          <p:cNvSpPr/>
          <p:nvPr/>
        </p:nvSpPr>
        <p:spPr>
          <a:xfrm>
            <a:off x="8476488" y="31302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⋮</a:t>
            </a:r>
            <a:endParaRPr lang="en-US" sz="820" dirty="0"/>
          </a:p>
        </p:txBody>
      </p:sp>
      <p:sp>
        <p:nvSpPr>
          <p:cNvPr id="118" name="Shape 116"/>
          <p:cNvSpPr/>
          <p:nvPr/>
        </p:nvSpPr>
        <p:spPr>
          <a:xfrm>
            <a:off x="8961120" y="30937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9" name="Text 117"/>
          <p:cNvSpPr/>
          <p:nvPr/>
        </p:nvSpPr>
        <p:spPr>
          <a:xfrm>
            <a:off x="8979408" y="31302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⋮</a:t>
            </a:r>
            <a:endParaRPr lang="en-US" sz="820" dirty="0"/>
          </a:p>
        </p:txBody>
      </p:sp>
      <p:sp>
        <p:nvSpPr>
          <p:cNvPr id="120" name="Shape 118"/>
          <p:cNvSpPr/>
          <p:nvPr/>
        </p:nvSpPr>
        <p:spPr>
          <a:xfrm>
            <a:off x="9464040" y="30937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1" name="Text 119"/>
          <p:cNvSpPr/>
          <p:nvPr/>
        </p:nvSpPr>
        <p:spPr>
          <a:xfrm>
            <a:off x="9482328" y="31302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⋮</a:t>
            </a:r>
            <a:endParaRPr lang="en-US" sz="820" dirty="0"/>
          </a:p>
        </p:txBody>
      </p:sp>
      <p:sp>
        <p:nvSpPr>
          <p:cNvPr id="122" name="Shape 120"/>
          <p:cNvSpPr/>
          <p:nvPr/>
        </p:nvSpPr>
        <p:spPr>
          <a:xfrm>
            <a:off x="7543800" y="3512820"/>
            <a:ext cx="41148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3" name="Text 121"/>
          <p:cNvSpPr/>
          <p:nvPr/>
        </p:nvSpPr>
        <p:spPr>
          <a:xfrm>
            <a:off x="7562088" y="3549396"/>
            <a:ext cx="37490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T</a:t>
            </a:r>
            <a:endParaRPr lang="en-US" sz="820" dirty="0"/>
          </a:p>
        </p:txBody>
      </p:sp>
      <p:sp>
        <p:nvSpPr>
          <p:cNvPr id="124" name="Shape 122"/>
          <p:cNvSpPr/>
          <p:nvPr/>
        </p:nvSpPr>
        <p:spPr>
          <a:xfrm>
            <a:off x="7955280" y="35128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5" name="Text 123"/>
          <p:cNvSpPr/>
          <p:nvPr/>
        </p:nvSpPr>
        <p:spPr>
          <a:xfrm>
            <a:off x="7973568" y="35493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126" name="Shape 124"/>
          <p:cNvSpPr/>
          <p:nvPr/>
        </p:nvSpPr>
        <p:spPr>
          <a:xfrm>
            <a:off x="8458200" y="35128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7" name="Text 125"/>
          <p:cNvSpPr/>
          <p:nvPr/>
        </p:nvSpPr>
        <p:spPr>
          <a:xfrm>
            <a:off x="8476488" y="35493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128" name="Shape 126"/>
          <p:cNvSpPr/>
          <p:nvPr/>
        </p:nvSpPr>
        <p:spPr>
          <a:xfrm>
            <a:off x="8961120" y="35128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9" name="Text 127"/>
          <p:cNvSpPr/>
          <p:nvPr/>
        </p:nvSpPr>
        <p:spPr>
          <a:xfrm>
            <a:off x="8979408" y="35493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130" name="Shape 128"/>
          <p:cNvSpPr/>
          <p:nvPr/>
        </p:nvSpPr>
        <p:spPr>
          <a:xfrm>
            <a:off x="9464040" y="3512820"/>
            <a:ext cx="502920" cy="4191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1" name="Text 129"/>
          <p:cNvSpPr/>
          <p:nvPr/>
        </p:nvSpPr>
        <p:spPr>
          <a:xfrm>
            <a:off x="9482328" y="3549396"/>
            <a:ext cx="466344" cy="3459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f</a:t>
            </a:r>
            <a:endParaRPr lang="en-US" sz="820" dirty="0"/>
          </a:p>
        </p:txBody>
      </p:sp>
      <p:sp>
        <p:nvSpPr>
          <p:cNvPr id="132" name="Text 130"/>
          <p:cNvSpPr/>
          <p:nvPr/>
        </p:nvSpPr>
        <p:spPr>
          <a:xfrm>
            <a:off x="7543800" y="40507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2C66"/>
                </a:solidFill>
              </a:rPr>
              <a:t>F  (T × r)</a:t>
            </a:r>
            <a:endParaRPr lang="en-US" sz="1220" dirty="0"/>
          </a:p>
        </p:txBody>
      </p:sp>
      <p:sp>
        <p:nvSpPr>
          <p:cNvPr id="133" name="Shape 131"/>
          <p:cNvSpPr/>
          <p:nvPr/>
        </p:nvSpPr>
        <p:spPr>
          <a:xfrm>
            <a:off x="3886200" y="4709160"/>
            <a:ext cx="6080760" cy="822960"/>
          </a:xfrm>
          <a:prstGeom prst="roundRect">
            <a:avLst>
              <a:gd name="adj" fmla="val 6667"/>
            </a:avLst>
          </a:prstGeom>
          <a:solidFill>
            <a:srgbClr val="EEF6FF"/>
          </a:solidFill>
          <a:ln w="12700">
            <a:solidFill>
              <a:srgbClr val="C282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4" name="Text 132"/>
          <p:cNvSpPr/>
          <p:nvPr/>
        </p:nvSpPr>
        <p:spPr>
          <a:xfrm>
            <a:off x="3995928" y="4809744"/>
            <a:ext cx="58613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2C66"/>
                </a:solidFill>
              </a:rPr>
              <a:t>Interpretation: each month gets 4 hidden factor values. These are like compact “economic state” scores estimated from all indicators.</a:t>
            </a:r>
            <a:endParaRPr lang="en-US" sz="1050" dirty="0"/>
          </a:p>
        </p:txBody>
      </p:sp>
      <p:sp>
        <p:nvSpPr>
          <p:cNvPr id="135" name="Shape 133"/>
          <p:cNvSpPr/>
          <p:nvPr/>
        </p:nvSpPr>
        <p:spPr>
          <a:xfrm>
            <a:off x="502920" y="6272784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F6FA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6" name="Text 134"/>
          <p:cNvSpPr/>
          <p:nvPr/>
        </p:nvSpPr>
        <p:spPr>
          <a:xfrm>
            <a:off x="685800" y="638251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071"/>
                </a:solidFill>
              </a:rPr>
              <a:t>r = 4 means four factors per month; it does not mean four months.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C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Step B: estimate loadings 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071"/>
                </a:solidFill>
              </a:rPr>
              <a:t>C maps factors back to the observed variables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1280160"/>
            <a:ext cx="10607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896112" y="1353312"/>
                <a:ext cx="10460736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0B2C66"/>
                    </a:solidFill>
                  </a:rPr>
                  <a:t>Measurement equation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0B2C66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0B2C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0B2C66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0B2C66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0B2C6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dirty="0" smtClean="0">
                        <a:solidFill>
                          <a:srgbClr val="0B2C66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0B2C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0B2C66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0B2C66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0B2C6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0B2C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0B2C66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0B2C66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12" y="1353312"/>
                <a:ext cx="10460736" cy="420624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822960" y="2240280"/>
            <a:ext cx="777240" cy="39624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841248" y="2276856"/>
            <a:ext cx="740664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C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1600200" y="2240280"/>
            <a:ext cx="658368" cy="39624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1618488" y="227685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F1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258568" y="2240280"/>
            <a:ext cx="658368" cy="39624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2276856" y="227685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F2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916936" y="2240280"/>
            <a:ext cx="658368" cy="39624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2935224" y="227685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F3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3575304" y="2240280"/>
            <a:ext cx="658368" cy="39624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3593592" y="227685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F4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22960" y="2636520"/>
            <a:ext cx="777240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841248" y="2673096"/>
            <a:ext cx="740664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GDP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1600200" y="263652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1618488" y="267309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a1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2258568" y="263652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2276856" y="267309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a2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2916936" y="263652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2935224" y="267309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a3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3575304" y="263652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3593592" y="267309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a4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822960" y="3032760"/>
            <a:ext cx="777240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41248" y="3069336"/>
            <a:ext cx="740664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CPI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1600200" y="303276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Text 30"/>
          <p:cNvSpPr/>
          <p:nvPr/>
        </p:nvSpPr>
        <p:spPr>
          <a:xfrm>
            <a:off x="1618488" y="306933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b1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2258568" y="303276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Text 32"/>
          <p:cNvSpPr/>
          <p:nvPr/>
        </p:nvSpPr>
        <p:spPr>
          <a:xfrm>
            <a:off x="2276856" y="306933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b2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2916936" y="303276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Text 34"/>
          <p:cNvSpPr/>
          <p:nvPr/>
        </p:nvSpPr>
        <p:spPr>
          <a:xfrm>
            <a:off x="2935224" y="306933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b3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3575304" y="303276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Text 36"/>
          <p:cNvSpPr/>
          <p:nvPr/>
        </p:nvSpPr>
        <p:spPr>
          <a:xfrm>
            <a:off x="3593592" y="306933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b4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822960" y="3429000"/>
            <a:ext cx="777240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Text 38"/>
          <p:cNvSpPr/>
          <p:nvPr/>
        </p:nvSpPr>
        <p:spPr>
          <a:xfrm>
            <a:off x="841248" y="3465576"/>
            <a:ext cx="740664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Dollar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1600200" y="342900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Text 40"/>
          <p:cNvSpPr/>
          <p:nvPr/>
        </p:nvSpPr>
        <p:spPr>
          <a:xfrm>
            <a:off x="1618488" y="346557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c1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2258568" y="342900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Text 42"/>
          <p:cNvSpPr/>
          <p:nvPr/>
        </p:nvSpPr>
        <p:spPr>
          <a:xfrm>
            <a:off x="2276856" y="346557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c2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2916936" y="342900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6" name="Text 44"/>
          <p:cNvSpPr/>
          <p:nvPr/>
        </p:nvSpPr>
        <p:spPr>
          <a:xfrm>
            <a:off x="2935224" y="346557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c3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3575304" y="342900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8" name="Text 46"/>
          <p:cNvSpPr/>
          <p:nvPr/>
        </p:nvSpPr>
        <p:spPr>
          <a:xfrm>
            <a:off x="3593592" y="346557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c4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822960" y="3825240"/>
            <a:ext cx="777240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Text 48"/>
          <p:cNvSpPr/>
          <p:nvPr/>
        </p:nvSpPr>
        <p:spPr>
          <a:xfrm>
            <a:off x="841248" y="3861816"/>
            <a:ext cx="740664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Unemp.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1600200" y="382524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Text 50"/>
          <p:cNvSpPr/>
          <p:nvPr/>
        </p:nvSpPr>
        <p:spPr>
          <a:xfrm>
            <a:off x="1618488" y="386181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d1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2258568" y="382524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4" name="Text 52"/>
          <p:cNvSpPr/>
          <p:nvPr/>
        </p:nvSpPr>
        <p:spPr>
          <a:xfrm>
            <a:off x="2276856" y="386181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d2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2916936" y="382524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6" name="Text 54"/>
          <p:cNvSpPr/>
          <p:nvPr/>
        </p:nvSpPr>
        <p:spPr>
          <a:xfrm>
            <a:off x="2935224" y="386181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d3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3575304" y="382524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8" name="Text 56"/>
          <p:cNvSpPr/>
          <p:nvPr/>
        </p:nvSpPr>
        <p:spPr>
          <a:xfrm>
            <a:off x="3593592" y="386181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d4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822960" y="4221480"/>
            <a:ext cx="777240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0" name="Text 58"/>
          <p:cNvSpPr/>
          <p:nvPr/>
        </p:nvSpPr>
        <p:spPr>
          <a:xfrm>
            <a:off x="841248" y="4258056"/>
            <a:ext cx="740664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⋮</a:t>
            </a:r>
            <a:endParaRPr lang="en-US" sz="860" dirty="0"/>
          </a:p>
        </p:txBody>
      </p:sp>
      <p:sp>
        <p:nvSpPr>
          <p:cNvPr id="61" name="Shape 59"/>
          <p:cNvSpPr/>
          <p:nvPr/>
        </p:nvSpPr>
        <p:spPr>
          <a:xfrm>
            <a:off x="1600200" y="422148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2" name="Text 60"/>
          <p:cNvSpPr/>
          <p:nvPr/>
        </p:nvSpPr>
        <p:spPr>
          <a:xfrm>
            <a:off x="1618488" y="425805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⋮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2258568" y="422148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4" name="Text 62"/>
          <p:cNvSpPr/>
          <p:nvPr/>
        </p:nvSpPr>
        <p:spPr>
          <a:xfrm>
            <a:off x="2276856" y="425805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⋮</a:t>
            </a:r>
            <a:endParaRPr lang="en-US" sz="860" dirty="0"/>
          </a:p>
        </p:txBody>
      </p:sp>
      <p:sp>
        <p:nvSpPr>
          <p:cNvPr id="65" name="Shape 63"/>
          <p:cNvSpPr/>
          <p:nvPr/>
        </p:nvSpPr>
        <p:spPr>
          <a:xfrm>
            <a:off x="2916936" y="422148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6" name="Text 64"/>
          <p:cNvSpPr/>
          <p:nvPr/>
        </p:nvSpPr>
        <p:spPr>
          <a:xfrm>
            <a:off x="2935224" y="425805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⋮</a:t>
            </a:r>
            <a:endParaRPr lang="en-US" sz="860" dirty="0"/>
          </a:p>
        </p:txBody>
      </p:sp>
      <p:sp>
        <p:nvSpPr>
          <p:cNvPr id="67" name="Shape 65"/>
          <p:cNvSpPr/>
          <p:nvPr/>
        </p:nvSpPr>
        <p:spPr>
          <a:xfrm>
            <a:off x="3575304" y="4221480"/>
            <a:ext cx="658368" cy="39624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8" name="Text 66"/>
          <p:cNvSpPr/>
          <p:nvPr/>
        </p:nvSpPr>
        <p:spPr>
          <a:xfrm>
            <a:off x="3593592" y="4258056"/>
            <a:ext cx="621792" cy="323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72033"/>
                </a:solidFill>
              </a:rPr>
              <a:t>⋮</a:t>
            </a:r>
            <a:endParaRPr lang="en-US" sz="860" dirty="0"/>
          </a:p>
        </p:txBody>
      </p:sp>
      <p:sp>
        <p:nvSpPr>
          <p:cNvPr id="69" name="Text 67"/>
          <p:cNvSpPr/>
          <p:nvPr/>
        </p:nvSpPr>
        <p:spPr>
          <a:xfrm>
            <a:off x="822960" y="47365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C66"/>
                </a:solidFill>
              </a:rPr>
              <a:t>C  (N × r)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754880" y="2331720"/>
            <a:ext cx="1874520" cy="384048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1" name="Text 69"/>
          <p:cNvSpPr/>
          <p:nvPr/>
        </p:nvSpPr>
        <p:spPr>
          <a:xfrm>
            <a:off x="4773168" y="2368296"/>
            <a:ext cx="183794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f_t</a:t>
            </a:r>
            <a:endParaRPr lang="en-US" sz="860" dirty="0"/>
          </a:p>
        </p:txBody>
      </p:sp>
      <p:sp>
        <p:nvSpPr>
          <p:cNvPr id="72" name="Shape 70"/>
          <p:cNvSpPr/>
          <p:nvPr/>
        </p:nvSpPr>
        <p:spPr>
          <a:xfrm>
            <a:off x="4754880" y="2715768"/>
            <a:ext cx="18745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3" name="Text 71"/>
          <p:cNvSpPr/>
          <p:nvPr/>
        </p:nvSpPr>
        <p:spPr>
          <a:xfrm>
            <a:off x="4773168" y="2752344"/>
            <a:ext cx="183794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72033"/>
                </a:solidFill>
              </a:rPr>
              <a:t>F1_t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4754880" y="3099816"/>
            <a:ext cx="18745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5" name="Text 73"/>
          <p:cNvSpPr/>
          <p:nvPr/>
        </p:nvSpPr>
        <p:spPr>
          <a:xfrm>
            <a:off x="4773168" y="3136392"/>
            <a:ext cx="183794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72033"/>
                </a:solidFill>
              </a:rPr>
              <a:t>F2_t</a:t>
            </a:r>
            <a:endParaRPr lang="en-US" sz="880" dirty="0"/>
          </a:p>
        </p:txBody>
      </p:sp>
      <p:sp>
        <p:nvSpPr>
          <p:cNvPr id="76" name="Shape 74"/>
          <p:cNvSpPr/>
          <p:nvPr/>
        </p:nvSpPr>
        <p:spPr>
          <a:xfrm>
            <a:off x="4754880" y="3483864"/>
            <a:ext cx="18745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7" name="Text 75"/>
          <p:cNvSpPr/>
          <p:nvPr/>
        </p:nvSpPr>
        <p:spPr>
          <a:xfrm>
            <a:off x="4773168" y="3520440"/>
            <a:ext cx="183794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72033"/>
                </a:solidFill>
              </a:rPr>
              <a:t>F3_t</a:t>
            </a:r>
            <a:endParaRPr lang="en-US" sz="880" dirty="0"/>
          </a:p>
        </p:txBody>
      </p:sp>
      <p:sp>
        <p:nvSpPr>
          <p:cNvPr id="78" name="Shape 76"/>
          <p:cNvSpPr/>
          <p:nvPr/>
        </p:nvSpPr>
        <p:spPr>
          <a:xfrm>
            <a:off x="4754880" y="3867912"/>
            <a:ext cx="18745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 77"/>
              <p:cNvSpPr/>
              <p:nvPr/>
            </p:nvSpPr>
            <p:spPr>
              <a:xfrm>
                <a:off x="4773168" y="3904488"/>
                <a:ext cx="1837944" cy="310896"/>
              </a:xfrm>
              <a:prstGeom prst="rect">
                <a:avLst/>
              </a:prstGeom>
              <a:noFill/>
              <a:ln/>
            </p:spPr>
            <p:txBody>
              <a:bodyPr wrap="square" lIns="127" tIns="127" rIns="127" bIns="127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80" i="1" dirty="0" smtClean="0">
                          <a:solidFill>
                            <a:srgbClr val="172033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880" i="1" dirty="0" smtClean="0">
                          <a:solidFill>
                            <a:srgbClr val="172033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880" i="1" dirty="0" smtClean="0">
                          <a:solidFill>
                            <a:srgbClr val="172033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880" i="1" dirty="0" smtClean="0">
                          <a:solidFill>
                            <a:srgbClr val="172033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9" name="Text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168" y="3904488"/>
                <a:ext cx="1837944" cy="310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 78"/>
          <p:cNvSpPr/>
          <p:nvPr/>
        </p:nvSpPr>
        <p:spPr>
          <a:xfrm>
            <a:off x="4754880" y="4434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C66"/>
                </a:solidFill>
              </a:rPr>
              <a:t>f_t  (r × 1)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389120" y="3291840"/>
            <a:ext cx="27432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82" name="Shape 80"/>
          <p:cNvSpPr/>
          <p:nvPr/>
        </p:nvSpPr>
        <p:spPr>
          <a:xfrm>
            <a:off x="6812280" y="3291840"/>
            <a:ext cx="45720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83" name="Shape 81"/>
          <p:cNvSpPr/>
          <p:nvPr/>
        </p:nvSpPr>
        <p:spPr>
          <a:xfrm>
            <a:off x="7452360" y="2331720"/>
            <a:ext cx="2331720" cy="384048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4" name="Text 82"/>
          <p:cNvSpPr/>
          <p:nvPr/>
        </p:nvSpPr>
        <p:spPr>
          <a:xfrm>
            <a:off x="7470648" y="2368296"/>
            <a:ext cx="229514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x_t</a:t>
            </a:r>
            <a:endParaRPr lang="en-US" sz="860" dirty="0"/>
          </a:p>
        </p:txBody>
      </p:sp>
      <p:sp>
        <p:nvSpPr>
          <p:cNvPr id="85" name="Shape 83"/>
          <p:cNvSpPr/>
          <p:nvPr/>
        </p:nvSpPr>
        <p:spPr>
          <a:xfrm>
            <a:off x="7452360" y="2715768"/>
            <a:ext cx="23317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6" name="Text 84"/>
          <p:cNvSpPr/>
          <p:nvPr/>
        </p:nvSpPr>
        <p:spPr>
          <a:xfrm>
            <a:off x="7470648" y="2752344"/>
            <a:ext cx="229514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72033"/>
                </a:solidFill>
              </a:rPr>
              <a:t>GDP_t</a:t>
            </a:r>
            <a:endParaRPr lang="en-US" sz="880" dirty="0"/>
          </a:p>
        </p:txBody>
      </p:sp>
      <p:sp>
        <p:nvSpPr>
          <p:cNvPr id="87" name="Shape 85"/>
          <p:cNvSpPr/>
          <p:nvPr/>
        </p:nvSpPr>
        <p:spPr>
          <a:xfrm>
            <a:off x="7452360" y="3099816"/>
            <a:ext cx="23317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8" name="Text 86"/>
          <p:cNvSpPr/>
          <p:nvPr/>
        </p:nvSpPr>
        <p:spPr>
          <a:xfrm>
            <a:off x="7470648" y="3136392"/>
            <a:ext cx="229514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72033"/>
                </a:solidFill>
              </a:rPr>
              <a:t>CPI_t</a:t>
            </a:r>
            <a:endParaRPr lang="en-US" sz="880" dirty="0"/>
          </a:p>
        </p:txBody>
      </p:sp>
      <p:sp>
        <p:nvSpPr>
          <p:cNvPr id="89" name="Shape 87"/>
          <p:cNvSpPr/>
          <p:nvPr/>
        </p:nvSpPr>
        <p:spPr>
          <a:xfrm>
            <a:off x="7452360" y="3483864"/>
            <a:ext cx="23317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0" name="Text 88"/>
          <p:cNvSpPr/>
          <p:nvPr/>
        </p:nvSpPr>
        <p:spPr>
          <a:xfrm>
            <a:off x="7470648" y="3520440"/>
            <a:ext cx="229514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72033"/>
                </a:solidFill>
              </a:rPr>
              <a:t>Dollar_t</a:t>
            </a:r>
            <a:endParaRPr lang="en-US" sz="880" dirty="0"/>
          </a:p>
        </p:txBody>
      </p:sp>
      <p:sp>
        <p:nvSpPr>
          <p:cNvPr id="91" name="Shape 89"/>
          <p:cNvSpPr/>
          <p:nvPr/>
        </p:nvSpPr>
        <p:spPr>
          <a:xfrm>
            <a:off x="7452360" y="3867912"/>
            <a:ext cx="233172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2" name="Text 90"/>
          <p:cNvSpPr/>
          <p:nvPr/>
        </p:nvSpPr>
        <p:spPr>
          <a:xfrm>
            <a:off x="7470648" y="3904488"/>
            <a:ext cx="229514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72033"/>
                </a:solidFill>
              </a:rPr>
              <a:t>Unemp._t</a:t>
            </a:r>
            <a:endParaRPr lang="en-US" sz="880" dirty="0"/>
          </a:p>
        </p:txBody>
      </p:sp>
      <p:sp>
        <p:nvSpPr>
          <p:cNvPr id="93" name="Text 91"/>
          <p:cNvSpPr/>
          <p:nvPr/>
        </p:nvSpPr>
        <p:spPr>
          <a:xfrm>
            <a:off x="7452360" y="44348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C66"/>
                </a:solidFill>
              </a:rPr>
              <a:t>x_t  (N × 1)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10012680" y="2011680"/>
            <a:ext cx="1508760" cy="2560320"/>
          </a:xfrm>
          <a:prstGeom prst="roundRect">
            <a:avLst>
              <a:gd name="adj" fmla="val 4848"/>
            </a:avLst>
          </a:prstGeom>
          <a:solidFill>
            <a:srgbClr val="FFF4D8"/>
          </a:solidFill>
          <a:ln w="13970">
            <a:solidFill>
              <a:srgbClr val="C282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5" name="Text 93"/>
          <p:cNvSpPr/>
          <p:nvPr/>
        </p:nvSpPr>
        <p:spPr>
          <a:xfrm>
            <a:off x="10158984" y="2130552"/>
            <a:ext cx="12161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C28200"/>
                </a:solidFill>
              </a:rPr>
              <a:t>GDP row</a:t>
            </a:r>
            <a:endParaRPr lang="en-US" sz="1220" dirty="0"/>
          </a:p>
        </p:txBody>
      </p:sp>
      <p:sp>
        <p:nvSpPr>
          <p:cNvPr id="96" name="Text 94"/>
          <p:cNvSpPr/>
          <p:nvPr/>
        </p:nvSpPr>
        <p:spPr>
          <a:xfrm>
            <a:off x="10177272" y="2487168"/>
            <a:ext cx="1179576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c_GDP = [a1 a2 a3 a4]</a:t>
            </a:r>
            <a:endParaRPr lang="en-US" sz="940" dirty="0"/>
          </a:p>
          <a:p>
            <a:pPr marL="0" indent="0">
              <a:buNone/>
            </a:pP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GDP_t ≈ c_GDP · f_t</a:t>
            </a:r>
            <a:endParaRPr lang="en-US" sz="940" dirty="0"/>
          </a:p>
          <a:p>
            <a:pPr marL="0" indent="0">
              <a:buNone/>
            </a:pP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(1 × r) · (r × 1) = scalar</a:t>
            </a:r>
            <a:endParaRPr lang="en-US" sz="940" dirty="0"/>
          </a:p>
        </p:txBody>
      </p:sp>
      <p:sp>
        <p:nvSpPr>
          <p:cNvPr id="97" name="Shape 95"/>
          <p:cNvSpPr/>
          <p:nvPr/>
        </p:nvSpPr>
        <p:spPr>
          <a:xfrm>
            <a:off x="502920" y="6272784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F6FA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8" name="Text 96"/>
          <p:cNvSpPr/>
          <p:nvPr/>
        </p:nvSpPr>
        <p:spPr>
          <a:xfrm>
            <a:off x="685800" y="638251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071"/>
                </a:solidFill>
              </a:rPr>
              <a:t>Loadings are learned during estimation; after convergence, they are fixed within that run and used to translate factors into variables.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C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Step C: learn factor dynamics and choose 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071"/>
                </a:solidFill>
              </a:rPr>
              <a:t>p is the number of factor lags used to forecast future factors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3246120" cy="4389120"/>
          </a:xfrm>
          <a:prstGeom prst="roundRect">
            <a:avLst>
              <a:gd name="adj" fmla="val 2254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740664" y="1536192"/>
            <a:ext cx="29535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How p is selected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58952" y="1892808"/>
            <a:ext cx="2916936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• The code runs VARselect on the first 4 PCA factors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• Criteria reported: AIC, HQ, SC, FPE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• Your result: AIC/FPE = 10, HQ/SC = 4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• A practical choice is p = 4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7223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4370832" y="1490472"/>
                <a:ext cx="7077456" cy="4480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sSub>
                        <m:sSubPr>
                          <m:ctrlP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</a:rPr>
                        <m:t>+...+</m:t>
                      </m:r>
                      <m: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m:rPr>
                          <m:sty m:val="p"/>
                        </m:rP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sSub>
                        <m:sSubPr>
                          <m:ctrlP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sz="1300" b="1" i="1" dirty="0" smtClean="0">
                              <a:solidFill>
                                <a:srgbClr val="0B2C66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1300" b="1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1300" b="0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en-US" sz="1300" b="0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1300" b="0" i="1" dirty="0" smtClean="0">
                          <a:solidFill>
                            <a:srgbClr val="0B2C6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832" y="1490472"/>
                <a:ext cx="7077456" cy="4480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4297680" y="2331720"/>
            <a:ext cx="1325880" cy="44196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4315968" y="2368296"/>
            <a:ext cx="1289304" cy="368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A1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4297680" y="2773680"/>
            <a:ext cx="1325880" cy="441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4315968" y="2810256"/>
            <a:ext cx="1289304" cy="368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r × r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297680" y="3215640"/>
            <a:ext cx="1325880" cy="441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4315968" y="3252216"/>
            <a:ext cx="1289304" cy="368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4 × 4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035040" y="2331720"/>
            <a:ext cx="1325880" cy="44196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6053328" y="2368296"/>
            <a:ext cx="1289304" cy="368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A2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035040" y="2773680"/>
            <a:ext cx="1325880" cy="441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6053328" y="2810256"/>
            <a:ext cx="1289304" cy="368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r × r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035040" y="3215640"/>
            <a:ext cx="1325880" cy="441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6053328" y="3252216"/>
            <a:ext cx="1289304" cy="368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4 × 4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772400" y="2331720"/>
            <a:ext cx="1325880" cy="44196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7790688" y="2368296"/>
            <a:ext cx="1289304" cy="368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A3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772400" y="2773680"/>
            <a:ext cx="1325880" cy="441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7790688" y="2810256"/>
            <a:ext cx="1289304" cy="368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r × r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772400" y="3215640"/>
            <a:ext cx="1325880" cy="441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Text 27"/>
          <p:cNvSpPr/>
          <p:nvPr/>
        </p:nvSpPr>
        <p:spPr>
          <a:xfrm>
            <a:off x="7790688" y="3252216"/>
            <a:ext cx="1289304" cy="368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4 × 4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9509760" y="2331720"/>
            <a:ext cx="1325880" cy="44196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9528048" y="2368296"/>
            <a:ext cx="1289304" cy="368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A4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9509760" y="2773680"/>
            <a:ext cx="1325880" cy="441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9528048" y="2810256"/>
            <a:ext cx="1289304" cy="368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r × r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9509760" y="3215640"/>
            <a:ext cx="1325880" cy="44196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Text 33"/>
          <p:cNvSpPr/>
          <p:nvPr/>
        </p:nvSpPr>
        <p:spPr>
          <a:xfrm>
            <a:off x="9528048" y="3252216"/>
            <a:ext cx="1289304" cy="368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2033"/>
                </a:solidFill>
              </a:rPr>
              <a:t>4 × 4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4526280" y="4160520"/>
            <a:ext cx="6720840" cy="822960"/>
          </a:xfrm>
          <a:prstGeom prst="roundRect">
            <a:avLst>
              <a:gd name="adj" fmla="val 6667"/>
            </a:avLst>
          </a:prstGeom>
          <a:solidFill>
            <a:srgbClr val="EEF6FF"/>
          </a:solidFill>
          <a:ln w="12700">
            <a:solidFill>
              <a:srgbClr val="C282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7" name="Text 35"/>
          <p:cNvSpPr/>
          <p:nvPr/>
        </p:nvSpPr>
        <p:spPr>
          <a:xfrm>
            <a:off x="4636008" y="4261104"/>
            <a:ext cx="65013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2C66"/>
                </a:solidFill>
              </a:rPr>
              <a:t>The A matrices are not loadings. They are transition coefficients: they describe how the hidden economic state moves from one month to the next.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6272784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F6FA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685800" y="638251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071"/>
                </a:solidFill>
              </a:rPr>
              <a:t>r = number of factors; p = number of months of factor history used in the dynamic equation.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C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Step D: forecast factors, then map them to GDP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071"/>
                </a:solidFill>
              </a:rPr>
              <a:t>The GDP forecast comes from the future factor vector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832104" y="1719072"/>
            <a:ext cx="15819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Latest factors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50392" y="2075688"/>
            <a:ext cx="15453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f_May, f_Apr, f_Mar, f_Feb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697480" y="2148840"/>
            <a:ext cx="6400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3493008" y="16002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3639312" y="1719072"/>
            <a:ext cx="15819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Transition model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3657600" y="2075688"/>
            <a:ext cx="15453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Use A1…A4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to forecast forward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522976" y="2148840"/>
            <a:ext cx="649224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6327648" y="12344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6473952" y="1353312"/>
            <a:ext cx="15819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f_June forecast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492240" y="1709928"/>
            <a:ext cx="15453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first step ahead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327648" y="233172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6473952" y="2450592"/>
            <a:ext cx="15819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f_July forecast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492240" y="2807208"/>
            <a:ext cx="154533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second step ahead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348472" y="2148840"/>
            <a:ext cx="658368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9162288" y="160020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FF4D8"/>
          </a:solidFill>
          <a:ln w="13970">
            <a:solidFill>
              <a:srgbClr val="C282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9308592" y="1719072"/>
            <a:ext cx="19933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C28200"/>
                </a:solidFill>
              </a:rPr>
              <a:t>GDP forecast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326880" y="2075688"/>
            <a:ext cx="195681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GDP_July = c_GDP · f_July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1920240" y="3520440"/>
            <a:ext cx="8321040" cy="310896"/>
          </a:xfrm>
          <a:prstGeom prst="roundRect">
            <a:avLst>
              <a:gd name="adj" fmla="val 17647"/>
            </a:avLst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1993392" y="3593592"/>
            <a:ext cx="8174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Example: cutoff = May 2026, target = July 2026, h = 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34440" y="4315968"/>
            <a:ext cx="9784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1307592" y="4389120"/>
            <a:ext cx="9637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C66"/>
                </a:solidFill>
              </a:rPr>
              <a:t>c_GDP (1 × r)  ·  f_{t+h} (r × 1)  =  GDP forecast (1 × 1)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60120" y="525780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1106424" y="5376672"/>
            <a:ext cx="2907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h = 1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124712" y="5733288"/>
            <a:ext cx="2871216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one month ahead → h1_fcst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4480560" y="525780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3" name="Text 31"/>
          <p:cNvSpPr/>
          <p:nvPr/>
        </p:nvSpPr>
        <p:spPr>
          <a:xfrm>
            <a:off x="4626864" y="5376672"/>
            <a:ext cx="2907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h = 2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4645152" y="5733288"/>
            <a:ext cx="2871216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two months ahead → h2_fcst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8001000" y="525780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Text 34"/>
          <p:cNvSpPr/>
          <p:nvPr/>
        </p:nvSpPr>
        <p:spPr>
          <a:xfrm>
            <a:off x="8147304" y="5376672"/>
            <a:ext cx="2907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h = 3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8165592" y="5733288"/>
            <a:ext cx="2871216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three months ahead → h3_fcst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502920" y="6272784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F6FA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685800" y="638251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071"/>
                </a:solidFill>
              </a:rPr>
              <a:t>Within a run, loadings stay fixed during prediction; the forecasted object is the future factor vector.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C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Estimation vs. prediction: what changes?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071"/>
                </a:solidFill>
              </a:rPr>
              <a:t>Separate what the model learns from how it forecasts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832104" y="1444752"/>
            <a:ext cx="4873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During estimation / training for one cutoff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50392" y="1801368"/>
            <a:ext cx="4837176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The model uses all data up to the cutoff month and learns:</a:t>
            </a:r>
            <a:endParaRPr lang="en-US" sz="940" dirty="0"/>
          </a:p>
          <a:p>
            <a:pPr marL="0" indent="0">
              <a:buNone/>
            </a:pP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1. Factor values over the observed months: F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2. Loadings: C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3. Dynamics / transition matrices: A1…Ap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4. Imputed missing values, including quarterly GDP gaps</a:t>
            </a:r>
            <a:endParaRPr lang="en-US" sz="940" dirty="0"/>
          </a:p>
          <a:p>
            <a:pPr marL="0" indent="0">
              <a:buNone/>
            </a:pP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During EM iterations, these objects are updated until convergence.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355080" y="132588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FFFDF7"/>
          </a:solidFill>
          <a:ln w="13970">
            <a:solidFill>
              <a:srgbClr val="C282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6501384" y="1444752"/>
            <a:ext cx="4873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C28200"/>
                </a:solidFill>
              </a:rPr>
              <a:t>During prediction for that same cutoff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519672" y="1801368"/>
            <a:ext cx="4837176" cy="3858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The learned objects are treated as fixed:</a:t>
            </a:r>
            <a:endParaRPr lang="en-US" sz="940" dirty="0"/>
          </a:p>
          <a:p>
            <a:pPr marL="0" indent="0">
              <a:buNone/>
            </a:pP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1. Use the latest p factor vectors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2. Forecast f_{t+1}, f_{t+2}, …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3. Pick the needed horizon h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4. Use the GDP row of C to convert f_{t+h} into GDP</a:t>
            </a:r>
            <a:endParaRPr lang="en-US" sz="940" dirty="0"/>
          </a:p>
          <a:p>
            <a:pPr marL="0" indent="0">
              <a:buNone/>
            </a:pP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Between monthly runs, the model is re-estimated, so C and A can change.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02920" y="6272784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F6FA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685800" y="638251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071"/>
                </a:solidFill>
              </a:rPr>
              <a:t>Converged after X iterations means the estimation step stabilized for that cutoff.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2C66"/>
          </a:solidFill>
          <a:ln w="12700">
            <a:solidFill>
              <a:srgbClr val="0B2C6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C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Reading the output and evaluating forecasts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071"/>
                </a:solidFill>
              </a:rPr>
              <a:t>What h0/h1/h2/h3 mean and how to compare to actual GDP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05840" cy="7620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749808" y="1362456"/>
            <a:ext cx="9692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Target date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1737360" y="1325880"/>
            <a:ext cx="777240" cy="7620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1755648" y="1362456"/>
            <a:ext cx="7406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h3_fcst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2514600" y="1325880"/>
            <a:ext cx="777240" cy="7620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2532888" y="1362456"/>
            <a:ext cx="7406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h2_fcst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291840" y="1325880"/>
            <a:ext cx="777240" cy="7620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3310128" y="1362456"/>
            <a:ext cx="7406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h1_fcst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069080" y="1325880"/>
            <a:ext cx="777240" cy="7620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4087368" y="1362456"/>
            <a:ext cx="7406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h0_fcst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4846320" y="1325880"/>
            <a:ext cx="822960" cy="762000"/>
          </a:xfrm>
          <a:prstGeom prst="rect">
            <a:avLst/>
          </a:prstGeom>
          <a:solidFill>
            <a:srgbClr val="0B2C66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4864608" y="1362456"/>
            <a:ext cx="78638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Actual GDP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31520" y="2087880"/>
            <a:ext cx="1005840" cy="7620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749808" y="2124456"/>
            <a:ext cx="9692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72033"/>
                </a:solidFill>
              </a:rPr>
              <a:t>2026-04-01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37360" y="2087880"/>
            <a:ext cx="777240" cy="7620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1755648" y="2124456"/>
            <a:ext cx="7406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72033"/>
                </a:solidFill>
              </a:rPr>
              <a:t>early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14600" y="2087880"/>
            <a:ext cx="777240" cy="7620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2532888" y="2124456"/>
            <a:ext cx="7406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72033"/>
                </a:solidFill>
              </a:rPr>
              <a:t>updated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91840" y="2087880"/>
            <a:ext cx="777240" cy="7620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3310128" y="2124456"/>
            <a:ext cx="7406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72033"/>
                </a:solidFill>
              </a:rPr>
              <a:t>near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69080" y="2087880"/>
            <a:ext cx="777240" cy="7620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4087368" y="2124456"/>
            <a:ext cx="7406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72033"/>
                </a:solidFill>
              </a:rPr>
              <a:t>nowcast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46320" y="2087880"/>
            <a:ext cx="822960" cy="7620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4864608" y="2124456"/>
            <a:ext cx="78638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72033"/>
                </a:solidFill>
              </a:rPr>
              <a:t>known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1520" y="2849880"/>
            <a:ext cx="1005840" cy="7620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2" name="Text 30"/>
          <p:cNvSpPr/>
          <p:nvPr/>
        </p:nvSpPr>
        <p:spPr>
          <a:xfrm>
            <a:off x="749808" y="2886456"/>
            <a:ext cx="9692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72033"/>
                </a:solidFill>
              </a:rPr>
              <a:t>2026-07-01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737360" y="2849880"/>
            <a:ext cx="777240" cy="7620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Text 32"/>
          <p:cNvSpPr/>
          <p:nvPr/>
        </p:nvSpPr>
        <p:spPr>
          <a:xfrm>
            <a:off x="1755648" y="2886456"/>
            <a:ext cx="7406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72033"/>
                </a:solidFill>
              </a:rPr>
              <a:t>from Apr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14600" y="2849880"/>
            <a:ext cx="777240" cy="7620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6" name="Text 34"/>
          <p:cNvSpPr/>
          <p:nvPr/>
        </p:nvSpPr>
        <p:spPr>
          <a:xfrm>
            <a:off x="2532888" y="2886456"/>
            <a:ext cx="7406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72033"/>
                </a:solidFill>
              </a:rPr>
              <a:t>from May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91840" y="2849880"/>
            <a:ext cx="777240" cy="7620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8" name="Text 36"/>
          <p:cNvSpPr/>
          <p:nvPr/>
        </p:nvSpPr>
        <p:spPr>
          <a:xfrm>
            <a:off x="3310128" y="2886456"/>
            <a:ext cx="7406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72033"/>
                </a:solidFill>
              </a:rPr>
              <a:t>from Jun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069080" y="2849880"/>
            <a:ext cx="777240" cy="7620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0" name="Text 38"/>
          <p:cNvSpPr/>
          <p:nvPr/>
        </p:nvSpPr>
        <p:spPr>
          <a:xfrm>
            <a:off x="4087368" y="2886456"/>
            <a:ext cx="74066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72033"/>
                </a:solidFill>
              </a:rPr>
              <a:t>from Jul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46320" y="2849880"/>
            <a:ext cx="822960" cy="762000"/>
          </a:xfrm>
          <a:prstGeom prst="rect">
            <a:avLst/>
          </a:prstGeom>
          <a:solidFill>
            <a:srgbClr val="FFFFFF"/>
          </a:solidFill>
          <a:ln w="7620">
            <a:solidFill>
              <a:srgbClr val="D7E4F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2" name="Text 40"/>
          <p:cNvSpPr/>
          <p:nvPr/>
        </p:nvSpPr>
        <p:spPr>
          <a:xfrm>
            <a:off x="4864608" y="2886456"/>
            <a:ext cx="786384" cy="688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72033"/>
                </a:solidFill>
              </a:rPr>
              <a:t>future/NA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172200" y="13258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4" name="Text 42"/>
          <p:cNvSpPr/>
          <p:nvPr/>
        </p:nvSpPr>
        <p:spPr>
          <a:xfrm>
            <a:off x="6318504" y="1444752"/>
            <a:ext cx="50566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Forecast scale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6336792" y="1801368"/>
            <a:ext cx="5020056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Because GDP was transformed as diff(log(GDP)), forecast values are approximately quarterly growth rates.</a:t>
            </a:r>
            <a:endParaRPr lang="en-US" sz="940" dirty="0"/>
          </a:p>
          <a:p>
            <a:pPr marL="0" indent="0">
              <a:buNone/>
            </a:pP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To show percent growth: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(exp(forecast) − 1) × 100</a:t>
            </a:r>
            <a:endParaRPr lang="en-US" sz="940" dirty="0"/>
          </a:p>
          <a:p>
            <a:pPr marL="0" indent="0">
              <a:buNone/>
            </a:pP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To recover a level forecast: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GDP_level_t = GDP_level_{t−1} × exp(forecast)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731520" y="416052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7FAFF"/>
          </a:solidFill>
          <a:ln w="1397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7" name="Text 45"/>
          <p:cNvSpPr/>
          <p:nvPr/>
        </p:nvSpPr>
        <p:spPr>
          <a:xfrm>
            <a:off x="877824" y="4279392"/>
            <a:ext cx="46451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2C66"/>
                </a:solidFill>
              </a:rPr>
              <a:t>Backtesting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896112" y="4636008"/>
            <a:ext cx="46085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72033"/>
                </a:solidFill>
              </a:rPr>
              <a:t>For historical target quarters, join forecasts with actual transformed GDP and compute RMSE / MAE.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6172200" y="4343400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0" name="Text 48"/>
          <p:cNvSpPr/>
          <p:nvPr/>
        </p:nvSpPr>
        <p:spPr>
          <a:xfrm>
            <a:off x="6245352" y="4416552"/>
            <a:ext cx="5202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C66"/>
                </a:solidFill>
              </a:rPr>
              <a:t>RMSE = sqrt(mean((forecast − actual)^2))     |     MAE = mean(|forecast − actual|)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02920" y="6272784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F6FAFF"/>
          </a:solidFill>
          <a:ln w="12700">
            <a:solidFill>
              <a:srgbClr val="D8E3F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2" name="Text 50"/>
          <p:cNvSpPr/>
          <p:nvPr/>
        </p:nvSpPr>
        <p:spPr>
          <a:xfrm>
            <a:off x="685800" y="638251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071"/>
                </a:solidFill>
              </a:rPr>
              <a:t>For a future quarter, you can produce a forecast, but you cannot evaluate its error until actual GDP is available.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1426</Words>
  <Application>Microsoft Office PowerPoint</Application>
  <PresentationFormat>מסך רחב</PresentationFormat>
  <Paragraphs>313</Paragraphs>
  <Slides>9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Aptos Display</vt:lpstr>
      <vt:lpstr>Arial</vt:lpstr>
      <vt:lpstr>Cambria Math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DFM Forecasts GDP</dc:title>
  <dc:subject>DFM GDP nowcasting explanation</dc:subject>
  <dc:creator>OpenAI</dc:creator>
  <cp:lastModifiedBy>Barak Kaplan</cp:lastModifiedBy>
  <cp:revision>2</cp:revision>
  <dcterms:created xsi:type="dcterms:W3CDTF">2026-06-24T08:55:21Z</dcterms:created>
  <dcterms:modified xsi:type="dcterms:W3CDTF">2026-06-24T09:49:13Z</dcterms:modified>
</cp:coreProperties>
</file>